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2743200" cy="431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6517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990000"/>
                </a:solidFill>
                <a:latin typeface="Arial"/>
              </a:rPr>
              <a:t>Week 2 — Foundations of Market Microstructure</a:t>
            </a:r>
          </a:p>
          <a:p>
            <a:r>
              <a:rPr sz="1800" b="0" i="1">
                <a:solidFill>
                  <a:srgbClr val="6D6D6D"/>
                </a:solidFill>
                <a:latin typeface="Arial"/>
              </a:rPr>
              <a:t>From the limit order book to the role of the market maker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>
                <a:solidFill>
                  <a:srgbClr val="1A1A1A"/>
                </a:solidFill>
                <a:latin typeface="Arial"/>
              </a:rPr>
              <a:t>Optimal Market Making for Cryptocurrency Options  ·  NC State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Learning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Reconstruct an L2 order book from Coincall data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Decompose the bid-ask spread (Roll, Glosten-Milgrom, Kyle)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Explain the market maker as a continuous liquidity provider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Lecture 1: Order Book Mechanics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Order types: market, limit, IOC, post-only, hidden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Price-time priority and the matching algorithm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L1 and L2 views (Coincall provides L2; there is no L3 / per-order feed)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Because data is L2, we model aggregate intensity, not queue position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Lecture 2: Spread Decomposition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Adverse selection + inventory + order-processing costs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Roll (1984): effective spread from trade prices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Glosten-Milgrom (1985): asymmetric information sets the spread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Realized spread, effective spread, price impact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2860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11480"/>
            <a:ext cx="8961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 i="0">
                <a:solidFill>
                  <a:srgbClr val="990000"/>
                </a:solidFill>
                <a:latin typeface="Arial"/>
              </a:rPr>
              <a:t>Illustration</a:t>
            </a:r>
          </a:p>
        </p:txBody>
      </p:sp>
      <p:pic>
        <p:nvPicPr>
          <p:cNvPr id="4" name="Picture 3" descr="week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371600"/>
            <a:ext cx="9601200" cy="5232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Getting the Data from Coincall</a:t>
            </a:r>
          </a:p>
          <a:p>
            <a:r>
              <a:rPr sz="1300" b="0" i="1">
                <a:solidFill>
                  <a:srgbClr val="6D6D6D"/>
                </a:solidFill>
                <a:latin typeface="Arial"/>
              </a:rPr>
              <a:t>Cross-check exact paths at https://docs.coincall.com/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Goal: pull a single option's order book and recent trades, build mid/spread.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Option order book (100 depth):  GET /open/option/order/orderbook/v1/{symbol}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Recent trades:                   GET /open/option/trade/lasttrade/v1/{symbol}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List symbols first:              GET /open/option/getInstruments/BTC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Response gives arrays of [price, size] for bids and asks -&gt; aggregate (L2)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For replay/backtests use the provided Parquet L2 snapshots (1s for options)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Live updates: subscribe to the /options/orderbook WebSocket channel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 i="0">
                <a:solidFill>
                  <a:srgbClr val="990000"/>
                </a:solidFill>
                <a:latin typeface="Arial"/>
              </a:rPr>
              <a:t>Code — week2_orderbook.py -- mid &amp; spread from a Coincall L2 book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47120" cy="5394960"/>
          </a:xfrm>
          <a:prstGeom prst="rect">
            <a:avLst/>
          </a:prstGeom>
          <a:solidFill>
            <a:srgbClr val="F5F5F5"/>
          </a:solidFill>
          <a:ln w="9525">
            <a:solidFill>
              <a:srgbClr val="6D6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from coincall_client import signed_get   # from Week 1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def l2_top_of_book(symbol, key, secret):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ob = signed_get(f"/open/option/order/orderbook/v1/{symbol}", {}, key, secret)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data = ob["data"]                       # confirm field names in the docs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bids = sorted(data["bids"], key=lambda x: -float(x[0]))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asks = sorted(data["asks"], key=lambda x:  float(x[0]))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best_bid, best_ask = float(bids[0][0]), float(asks[0][0])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mid    = 0.5 * (best_bid + best_ask)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spread = best_ask - best_bid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return mid, spread, best_bid, best_ask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# For an offline backtest, replay the provided Parquet instead: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#   import pandas as pd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#   book = pd.read_parquet("coincall_btc_options_l2_2025Q4.parquet")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#   book["mid"] = 0.5 * (book.bid_px_0 + book.ask_px_0)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Glossary — Key Terms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1" i="0">
                <a:solidFill>
                  <a:srgbClr val="CC0000"/>
                </a:solidFill>
                <a:latin typeface="Arial"/>
              </a:rPr>
              <a:t>Limit order book (LOB) —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all resting limit orders organized by price level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CC0000"/>
                </a:solidFill>
                <a:latin typeface="Arial"/>
              </a:rPr>
              <a:t>L1 / L2 / L3 —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top-of-book / aggregated depth / per-order; Coincall provides L2 only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CC0000"/>
                </a:solidFill>
                <a:latin typeface="Arial"/>
              </a:rPr>
              <a:t>Mid-price —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the average of the best bid and best ask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CC0000"/>
                </a:solidFill>
                <a:latin typeface="Arial"/>
              </a:rPr>
              <a:t>Adverse selection —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loss from trading against better-informed counterparties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CC0000"/>
                </a:solidFill>
                <a:latin typeface="Arial"/>
              </a:rPr>
              <a:t>Effective spread —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actual cost relative to mid (estimated by the Roll measure)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CC0000"/>
                </a:solidFill>
                <a:latin typeface="Arial"/>
              </a:rPr>
              <a:t>Price impact —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how far the mid moves in the direction of an incoming trade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CC0000"/>
                </a:solidFill>
                <a:latin typeface="Arial"/>
              </a:rPr>
              <a:t>Order-flow toxicity —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the degree to which incoming flow is informed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Reading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Cartea-Jaikumar-Penalva, Ch. 1-3; Roll (1984); Glosten-Milgrom (1985)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