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2743200" cy="431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6517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990000"/>
                </a:solidFill>
                <a:latin typeface="Arial"/>
              </a:rPr>
              <a:t>Week 8 — Options Market Making &amp; Dynamic Hedging</a:t>
            </a:r>
          </a:p>
          <a:p>
            <a:r>
              <a:rPr sz="1800" b="0" i="1">
                <a:solidFill>
                  <a:srgbClr val="6D6D6D"/>
                </a:solidFill>
                <a:latin typeface="Arial"/>
              </a:rPr>
              <a:t>Avellaneda-Stoikov with a vector-valued (Greek) inventory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>
                <a:solidFill>
                  <a:srgbClr val="1A1A1A"/>
                </a:solidFill>
                <a:latin typeface="Arial"/>
              </a:rPr>
              <a:t>Optimal Market Making for Cryptocurrency Options  ·  NC State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Learning objectives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Lecture 1: Multi-Greek Inventory &amp; HJB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Lecture 2: Dynamic Hedging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Illustration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Derivation &amp; rationale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Getting the data from Coincall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Code: week8_hedge.py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Glossary of key terms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Reading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Learning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Set up the El Aoud-Abergel multi-Greek framework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Understand the quadratic inventory penalty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Quantify the P&amp;L of a delta-hedged book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Lecture 1: Multi-Greek Inventory &amp; HJB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Inventory becomes a vector q = (Delta, Gamma, vega, ...)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Quadratic inventory penalty; reduces to AS in 1-D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Multi-Greek HJB and the separation ansatz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Lecture 2: Dynamic Hedging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Continuous vs discrete delta hedging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The gamma-theta-variance identity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Perp futures as the hedge instrument; funding cost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2860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11480"/>
            <a:ext cx="8961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i="0">
                <a:solidFill>
                  <a:srgbClr val="990000"/>
                </a:solidFill>
                <a:latin typeface="Arial"/>
              </a:rPr>
              <a:t>Illustration</a:t>
            </a:r>
          </a:p>
        </p:txBody>
      </p:sp>
      <p:pic>
        <p:nvPicPr>
          <p:cNvPr id="4" name="Picture 3" descr="week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371600"/>
            <a:ext cx="9601200" cy="522514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Key Equations &amp; Why We Choose Them</a:t>
            </a:r>
          </a:p>
          <a:p>
            <a:r>
              <a:rPr sz="1300" b="0" i="1">
                <a:solidFill>
                  <a:srgbClr val="6D6D6D"/>
                </a:solidFill>
                <a:latin typeface="Arial"/>
              </a:rPr>
              <a:t>Full derivations in the PDF deck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\text{penalty} = \tfrac12\, q^{\mathsf T} \Sigma\, q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why: Inventory risk for an options book is multi-dimensional (delta, gamma, vega...). A quadratic form is the local (mean-variance) risk of the Greek vector; $\Sigma$ is calibrated to the empirical covariance of the Greeks, so cross-risks are priced, not just diagonal ones. It reduces to AS's $q^2$ penalty when there is one Greek.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d\Pi = \tfrac12\,\Gamma\,S^2\big(\sigma_{\text{real}}^2-\sigma_{\text{impl}}^2\big)\,dt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why: The gamma-theta-variance identity: a delta-hedged option earns (or pays) the gap between realized and implied variance, scaled by dollar gamma. This single equation explains ~80% of a hedged book's daily P&amp;L and motivates why we track gamma at all.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Getting the Data from Coincall</a:t>
            </a:r>
          </a:p>
          <a:p>
            <a:r>
              <a:rPr sz="1300" b="0" i="1">
                <a:solidFill>
                  <a:srgbClr val="6D6D6D"/>
                </a:solidFill>
                <a:latin typeface="Arial"/>
              </a:rPr>
              <a:t>Cross-check exact paths at https://docs.coincall.com/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Greeks per contract (for the inventory vector and Sigma):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GET /open/option/detail/v1/{symbol}  -&gt; delta, gamma, vega, theta, rho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Hedge instrument + carry: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Perp book:  GET /open/futures/order/orderbook/v1/{symbol}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Funding:    GET /open/public/fundingRate/v1?symbol=BTCUSD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Offline: coincall_funding_rates_2025Q4.parquet for hedge-cost accounting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i="0">
                <a:solidFill>
                  <a:srgbClr val="990000"/>
                </a:solidFill>
                <a:latin typeface="Arial"/>
              </a:rPr>
              <a:t>Code — week8_hedge.py -- aggregate Greeks &amp; threshold delta hedge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47120" cy="5394960"/>
          </a:xfrm>
          <a:prstGeom prst="rect">
            <a:avLst/>
          </a:prstGeom>
          <a:solidFill>
            <a:srgbClr val="F5F5F5"/>
          </a:solidFill>
          <a:ln w="9525">
            <a:solidFill>
              <a:srgbClr val="6D6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import torch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def book_greeks(positions, greeks):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# positions: (n,), greeks: (n,5) columns [delta,gamma,vega,theta,rho]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return (positions[:, None] * greeks).sum(0)      # aggregate inventory vector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def delta_hedge(net_delta, perp_pos, threshold=0.1):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if net_delta.abs() &gt; threshold:                  # rebalance only when breached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    trade = -net_delta                           # hedge with perp futures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    return perp_pos + trade, trade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return perp_pos, torch.tensor(0.0)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Glossary — Key Terms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Greek inventory vector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aggregated (delta, gamma, vega, ...) exposure of the book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Quadratic penalty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the risk term (1/2) q^T Sigma q on the Greek vector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Delta hedging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neutralizing directional risk using the underlying or a perpetual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Gamma scalping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P&amp;L earned by re-hedging a long-gamma position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Gamma-theta-variance identity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hedged P&amp;L = (1/2) Gamma S^2 (realized var - implied var) dt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Funding rate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periodic payment between perpetual-swap longs and shorts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El Aoud-Abergel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the multi-Greek option market-making framework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Reading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El Aoud-Abergel (2015); Taleb (1997); Cartea et al., Ch.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El Aoud, S., &amp; Abergel, F. (2015). A stochastic control approach to option market making. Market Microstructure and Liquidity, 1(1), 1550006.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Taleb, N. N. (1997). Dynamic Hedging: Managing Vanilla and Exotic Options. Wiley.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Cartea, Jaikumar, &amp; Penalva (2015). Algorithmic and High-Frequency Trading, Ch. 11.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